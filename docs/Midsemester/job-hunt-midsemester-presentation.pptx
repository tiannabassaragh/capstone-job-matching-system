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6" r:id="rId9"/>
    <p:sldId id="264" r:id="rId10"/>
    <p:sldId id="263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54112" y="1005840"/>
            <a:ext cx="3566160" cy="4480560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3931920" cy="27432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F7EBC7"/>
                </a:solidFill>
                <a:latin typeface="Aptos"/>
              </a:rPr>
              <a:t>COMP3901 - 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5303520" cy="82296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Georgia"/>
              </a:rPr>
              <a:t>Job Hunt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84831"/>
            <a:ext cx="5669280" cy="82296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Midsemester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07792"/>
            <a:ext cx="5806440" cy="96012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A web-based job matching and qualification system for computing-related roles.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828800" cy="22860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200" b="1">
                <a:solidFill>
                  <a:srgbClr val="F7EBC7"/>
                </a:solidFill>
                <a:latin typeface="Aptos"/>
              </a:rPr>
              <a:t>Team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2286000" cy="41148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Free Labour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298448"/>
            <a:ext cx="2377440" cy="27432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200" b="1">
                <a:solidFill>
                  <a:srgbClr val="11213E"/>
                </a:solidFill>
                <a:latin typeface="Aptos"/>
              </a:rPr>
              <a:t>Team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1645920"/>
            <a:ext cx="2743200" cy="3474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F2A37"/>
                </a:solidFill>
                <a:latin typeface="Aptos"/>
              </a:rPr>
              <a:t>Alwyn Sterling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F2A37"/>
                </a:solidFill>
                <a:latin typeface="Aptos"/>
              </a:rPr>
              <a:t>Dominic Scott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F2A37"/>
                </a:solidFill>
                <a:latin typeface="Aptos"/>
              </a:rPr>
              <a:t>Leah-Jay Holness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F2A37"/>
                </a:solidFill>
                <a:latin typeface="Aptos"/>
              </a:rPr>
              <a:t>Ron-Hugh Walters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F2A37"/>
                </a:solidFill>
                <a:latin typeface="Aptos"/>
              </a:rPr>
              <a:t>Tianna Bassaragh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r"/>
            <a:r>
              <a:rPr sz="1000" b="0">
                <a:solidFill>
                  <a:srgbClr val="F7EBC7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869680" cy="658368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2500" b="1">
                <a:solidFill>
                  <a:srgbClr val="11213E"/>
                </a:solidFill>
                <a:latin typeface="Georgia"/>
              </a:rPr>
              <a:t>Problem Background and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8869680" cy="329184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Why this problem is worth solving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10928" y="566928"/>
            <a:ext cx="178308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5760720" cy="44805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F2A37"/>
                </a:solidFill>
                <a:latin typeface="Aptos"/>
              </a:rPr>
              <a:t>Modern recruitment is inefficient for both employers and applicants.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A37"/>
                </a:solidFill>
                <a:latin typeface="Aptos"/>
              </a:rPr>
              <a:t>Job descriptions and resumes are messy, unstructured documents.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A37"/>
                </a:solidFill>
                <a:latin typeface="Aptos"/>
              </a:rPr>
              <a:t>Employers need a faster first-pass filter for candidate suitability.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A37"/>
                </a:solidFill>
                <a:latin typeface="Aptos"/>
              </a:rPr>
              <a:t>Applicants benefit from clearer, more transparent matching outcomes.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F2A37"/>
                </a:solidFill>
                <a:latin typeface="Aptos"/>
              </a:rPr>
              <a:t>The project focuses on computing-related roles to keep scope realistic.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645920"/>
            <a:ext cx="4663440" cy="1280160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30568" y="1737360"/>
            <a:ext cx="444398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Problem framing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2066544"/>
            <a:ext cx="4517136" cy="78638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We are formalising comparison between job requirements and candidate competencies.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The system acts as an initial matching and recommendation stage.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3246120"/>
            <a:ext cx="4663440" cy="1417320"/>
          </a:xfrm>
          <a:prstGeom prst="roundRect">
            <a:avLst/>
          </a:prstGeom>
          <a:solidFill>
            <a:srgbClr val="F6E1DC"/>
          </a:solidFill>
          <a:ln>
            <a:solidFill>
              <a:srgbClr val="F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30568" y="3337560"/>
            <a:ext cx="444398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Not the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3666744"/>
            <a:ext cx="4517136" cy="92354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This is not a full hiring platform.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We are not predicting final hiring outcomes or job performance.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869680" cy="658368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2500" b="1">
                <a:solidFill>
                  <a:srgbClr val="11213E"/>
                </a:solidFill>
                <a:latin typeface="Georgia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8869680" cy="329184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A web-based Job Matching and Qualification System for computing-related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10928" y="566928"/>
            <a:ext cx="178308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10698480" cy="384048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500" b="1">
                <a:solidFill>
                  <a:srgbClr val="11213E"/>
                </a:solidFill>
                <a:latin typeface="Aptos"/>
              </a:rPr>
              <a:t>The system operates as an initial matching and recommendation stage, not a full hiring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3429000" cy="3154680"/>
          </a:xfrm>
          <a:prstGeom prst="roundRect">
            <a:avLst/>
          </a:prstGeom>
          <a:solidFill>
            <a:srgbClr val="E1EBF7"/>
          </a:solidFill>
          <a:ln>
            <a:solidFill>
              <a:srgbClr val="E1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320954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Candidate Web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40864"/>
            <a:ext cx="3282696" cy="266090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Upload resume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View ranked job matches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View match details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429000" cy="3154680"/>
          </a:xfrm>
          <a:prstGeom prst="roundRect">
            <a:avLst/>
          </a:prstGeom>
          <a:solidFill>
            <a:srgbClr val="E4F2EC"/>
          </a:solidFill>
          <a:ln>
            <a:solidFill>
              <a:srgbClr val="E4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2011680"/>
            <a:ext cx="320954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Core Matching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340864"/>
            <a:ext cx="3282696" cy="266090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Extract competencies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Map competencies to O*NET descriptors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Determine qualification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Rank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920240"/>
            <a:ext cx="3429000" cy="3154680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320954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Employer Web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340864"/>
            <a:ext cx="3282696" cy="266090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Create job posting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View ranked candidates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View match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32120"/>
            <a:ext cx="10424160" cy="256032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50" b="0">
                <a:solidFill>
                  <a:srgbClr val="2D3E54"/>
                </a:solidFill>
                <a:latin typeface="Aptos"/>
              </a:rPr>
              <a:t>Possible explanation, gap-report, weighting, and advanced filtering features remain stretch additions rather than guaranteed deliverables.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869680" cy="487313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2500" b="1" dirty="0">
                <a:solidFill>
                  <a:srgbClr val="11213E"/>
                </a:solidFill>
                <a:latin typeface="Georgia"/>
              </a:rPr>
              <a:t>Objective</a:t>
            </a:r>
            <a:r>
              <a:rPr lang="en-US" sz="2500" b="1" dirty="0">
                <a:solidFill>
                  <a:srgbClr val="11213E"/>
                </a:solidFill>
                <a:latin typeface="Georgia"/>
              </a:rPr>
              <a:t>s</a:t>
            </a:r>
            <a:endParaRPr sz="2500" b="1" dirty="0">
              <a:solidFill>
                <a:srgbClr val="11213E"/>
              </a:solidFill>
              <a:latin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8869680" cy="329184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Core deliverables, boundaries, and stretch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10928" y="566928"/>
            <a:ext cx="178308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3703320" cy="4526280"/>
          </a:xfrm>
          <a:prstGeom prst="roundRect">
            <a:avLst/>
          </a:prstGeom>
          <a:solidFill>
            <a:srgbClr val="E4F2EC"/>
          </a:solidFill>
          <a:ln>
            <a:solidFill>
              <a:srgbClr val="E4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1508760"/>
            <a:ext cx="348386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Core 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37944"/>
            <a:ext cx="3557016" cy="403250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Accept resumes and job descriptions.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Extract competencies from unstructured text.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Map extracted competencies to O*NET descriptors.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Generate structured competency profiles.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Determine whether required competencies are satisfied.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Rank qualified candidates and relevant jobs.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657600" cy="4526280"/>
          </a:xfrm>
          <a:prstGeom prst="roundRect">
            <a:avLst/>
          </a:prstGeom>
          <a:solidFill>
            <a:srgbClr val="F6E1DC"/>
          </a:solidFill>
          <a:ln>
            <a:solidFill>
              <a:srgbClr val="F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508760"/>
            <a:ext cx="343814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Clearly out of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37944"/>
            <a:ext cx="3511296" cy="403250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A full hiring platform.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Interviews, offers, onboarding, or final hiring decisions.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Predicting job performance.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Claiming guaranteed real-world hiring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17320"/>
            <a:ext cx="3310128" cy="4526280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30768" y="1508760"/>
            <a:ext cx="3090672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Stretch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837944"/>
            <a:ext cx="3163824" cy="403250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Mark competencies as required or preferred.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Adjust ranking weights within defined bounds.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Generate qualification explanations.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Produce competency gap reports.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Filter results by later decided criteria.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869680" cy="658368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2500" b="1">
                <a:solidFill>
                  <a:srgbClr val="11213E"/>
                </a:solidFill>
                <a:latin typeface="Georgia"/>
              </a:rPr>
              <a:t>Functional Requirements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8869680" cy="329184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The most important behaviours of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10928" y="566928"/>
            <a:ext cx="178308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2743200" cy="1645920"/>
          </a:xfrm>
          <a:prstGeom prst="roundRect">
            <a:avLst/>
          </a:prstGeom>
          <a:solidFill>
            <a:srgbClr val="E1EBF7"/>
          </a:solidFill>
          <a:ln>
            <a:solidFill>
              <a:srgbClr val="E1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600200"/>
            <a:ext cx="252374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Input and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9384"/>
            <a:ext cx="2596896" cy="115214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Upload or enter resumes and job descriptions.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Store structured profiles for later matching.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508760"/>
            <a:ext cx="2743200" cy="1645920"/>
          </a:xfrm>
          <a:prstGeom prst="roundRect">
            <a:avLst/>
          </a:prstGeom>
          <a:solidFill>
            <a:srgbClr val="E4F2EC"/>
          </a:solidFill>
          <a:ln>
            <a:solidFill>
              <a:srgbClr val="E4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21608" y="1600200"/>
            <a:ext cx="252374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Competency profiling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1929384"/>
            <a:ext cx="2596896" cy="115214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Extract competencies from unstructured text.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Map extracted signals to O*NET descriptors.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65392" y="1508760"/>
            <a:ext cx="2697480" cy="1645920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600200"/>
            <a:ext cx="247802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Qualification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1929384"/>
            <a:ext cx="2551176" cy="115214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Determine whether required competencies are satisfied.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Separate qualified from not qualified cases.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73184" y="1508760"/>
            <a:ext cx="2011680" cy="1645920"/>
          </a:xfrm>
          <a:prstGeom prst="roundRect">
            <a:avLst/>
          </a:prstGeom>
          <a:solidFill>
            <a:srgbClr val="F6E1DC"/>
          </a:solidFill>
          <a:ln>
            <a:solidFill>
              <a:srgbClr val="F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82912" y="1600200"/>
            <a:ext cx="179222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Ranked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46336" y="1929384"/>
            <a:ext cx="1865376" cy="115214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Rank candidates for employers.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Rank jobs for candidates.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3730752"/>
            <a:ext cx="4617720" cy="1554480"/>
          </a:xfrm>
          <a:prstGeom prst="roundRect">
            <a:avLst/>
          </a:prstGeom>
          <a:solidFill>
            <a:srgbClr val="EAEEF3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35608" y="3822192"/>
            <a:ext cx="439826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Important supporting behaviour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471416" cy="106070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Show the most useful results, not just raw matches.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Keep the design realistic for a web application workflow.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730752"/>
            <a:ext cx="4663440" cy="1554480"/>
          </a:xfrm>
          <a:prstGeom prst="roundRect">
            <a:avLst/>
          </a:prstGeom>
          <a:solidFill>
            <a:srgbClr val="E1EBF7"/>
          </a:solidFill>
          <a:ln>
            <a:solidFill>
              <a:srgbClr val="E1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45936" y="3822192"/>
            <a:ext cx="444398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Stretch features stay separate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151376"/>
            <a:ext cx="4517136" cy="106070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Explanation, weighting controls, preferred vs required tags, and gap reports are optional additions.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They are not presented as guaranteed deliverables.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869680" cy="658368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2500" b="1">
                <a:solidFill>
                  <a:srgbClr val="11213E"/>
                </a:solidFill>
                <a:latin typeface="Georgia"/>
              </a:rPr>
              <a:t>System Flow and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8869680" cy="329184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From document input to ranked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10928" y="566928"/>
            <a:ext cx="178308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325880" cy="1005840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1143000" cy="256032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ctr"/>
            <a:r>
              <a:rPr sz="1300" b="1">
                <a:solidFill>
                  <a:srgbClr val="11213E"/>
                </a:solidFill>
                <a:latin typeface="Georgia"/>
              </a:rPr>
              <a:t>1. 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76272"/>
            <a:ext cx="1170432" cy="50292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Candidate resumes and employer job descriptions</a:t>
            </a:r>
          </a:p>
        </p:txBody>
      </p:sp>
      <p:sp>
        <p:nvSpPr>
          <p:cNvPr id="9" name="Chevron 8"/>
          <p:cNvSpPr/>
          <p:nvPr/>
        </p:nvSpPr>
        <p:spPr>
          <a:xfrm>
            <a:off x="2176272" y="2084831"/>
            <a:ext cx="384048" cy="493776"/>
          </a:xfrm>
          <a:prstGeom prst="chevron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33472" y="1828800"/>
            <a:ext cx="1325880" cy="1005840"/>
          </a:xfrm>
          <a:prstGeom prst="roundRect">
            <a:avLst/>
          </a:prstGeom>
          <a:solidFill>
            <a:srgbClr val="E4F2EC"/>
          </a:solidFill>
          <a:ln>
            <a:solidFill>
              <a:srgbClr val="E4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24912" y="1901952"/>
            <a:ext cx="1143000" cy="256032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ctr"/>
            <a:r>
              <a:rPr sz="1300" b="1">
                <a:solidFill>
                  <a:srgbClr val="11213E"/>
                </a:solidFill>
                <a:latin typeface="Georgia"/>
              </a:rPr>
              <a:t>2. 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2176272"/>
            <a:ext cx="1170432" cy="50292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Find competency signals in unstructured text</a:t>
            </a:r>
          </a:p>
        </p:txBody>
      </p:sp>
      <p:sp>
        <p:nvSpPr>
          <p:cNvPr id="13" name="Chevron 12"/>
          <p:cNvSpPr/>
          <p:nvPr/>
        </p:nvSpPr>
        <p:spPr>
          <a:xfrm>
            <a:off x="3986784" y="2084831"/>
            <a:ext cx="384048" cy="493776"/>
          </a:xfrm>
          <a:prstGeom prst="chevron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43984" y="1828800"/>
            <a:ext cx="1325880" cy="1005840"/>
          </a:xfrm>
          <a:prstGeom prst="roundRect">
            <a:avLst/>
          </a:prstGeom>
          <a:solidFill>
            <a:srgbClr val="E1EBF7"/>
          </a:solidFill>
          <a:ln>
            <a:solidFill>
              <a:srgbClr val="E1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901952"/>
            <a:ext cx="1143000" cy="256032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ctr"/>
            <a:r>
              <a:rPr sz="1300" b="1">
                <a:solidFill>
                  <a:srgbClr val="11213E"/>
                </a:solidFill>
                <a:latin typeface="Georgia"/>
              </a:rPr>
              <a:t>3.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176272"/>
            <a:ext cx="1170432" cy="50292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Represent extracted signals with O*NET descriptors</a:t>
            </a:r>
          </a:p>
        </p:txBody>
      </p:sp>
      <p:sp>
        <p:nvSpPr>
          <p:cNvPr id="17" name="Chevron 16"/>
          <p:cNvSpPr/>
          <p:nvPr/>
        </p:nvSpPr>
        <p:spPr>
          <a:xfrm>
            <a:off x="5797296" y="2084831"/>
            <a:ext cx="384048" cy="493776"/>
          </a:xfrm>
          <a:prstGeom prst="chevron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54496" y="1828800"/>
            <a:ext cx="1325880" cy="1005840"/>
          </a:xfrm>
          <a:prstGeom prst="roundRect">
            <a:avLst/>
          </a:prstGeom>
          <a:solidFill>
            <a:srgbClr val="F6E1DC"/>
          </a:solidFill>
          <a:ln>
            <a:solidFill>
              <a:srgbClr val="F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45936" y="1901952"/>
            <a:ext cx="1143000" cy="256032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ctr"/>
            <a:r>
              <a:rPr sz="1300" b="1">
                <a:solidFill>
                  <a:srgbClr val="11213E"/>
                </a:solidFill>
                <a:latin typeface="Georgia"/>
              </a:rPr>
              <a:t>4. Qualify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76272"/>
            <a:ext cx="1170432" cy="50292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Check whether required competencies are satisfied</a:t>
            </a:r>
          </a:p>
        </p:txBody>
      </p:sp>
      <p:sp>
        <p:nvSpPr>
          <p:cNvPr id="21" name="Chevron 20"/>
          <p:cNvSpPr/>
          <p:nvPr/>
        </p:nvSpPr>
        <p:spPr>
          <a:xfrm>
            <a:off x="7607808" y="2084831"/>
            <a:ext cx="384048" cy="493776"/>
          </a:xfrm>
          <a:prstGeom prst="chevron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65008" y="1828800"/>
            <a:ext cx="1325880" cy="1005840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56448" y="1901952"/>
            <a:ext cx="1143000" cy="256032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ctr"/>
            <a:r>
              <a:rPr sz="1300" b="1">
                <a:solidFill>
                  <a:srgbClr val="11213E"/>
                </a:solidFill>
                <a:latin typeface="Georgia"/>
              </a:rPr>
              <a:t>5. 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176272"/>
            <a:ext cx="1170432" cy="50292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Order the strongest matches for both user groups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069080"/>
            <a:ext cx="9966960" cy="1143000"/>
          </a:xfrm>
          <a:prstGeom prst="roundRect">
            <a:avLst/>
          </a:prstGeom>
          <a:solidFill>
            <a:srgbClr val="11213E"/>
          </a:solidFill>
          <a:ln>
            <a:solidFill>
              <a:srgbClr val="11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98448" y="4279392"/>
            <a:ext cx="2743200" cy="22860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200" b="1">
                <a:solidFill>
                  <a:srgbClr val="F7EBC7"/>
                </a:solidFill>
                <a:latin typeface="Aptos"/>
              </a:rPr>
              <a:t>Evaluation 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526280"/>
            <a:ext cx="937260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Qualification quality: precision, recall, and F1.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Ranking quality if time permits: Precision@K, nDCG@K, and MRR.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869680" cy="487313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2500" b="1" dirty="0">
                <a:solidFill>
                  <a:srgbClr val="11213E"/>
                </a:solidFill>
                <a:latin typeface="Georgia"/>
              </a:rPr>
              <a:t>Technical Challenge</a:t>
            </a:r>
            <a:r>
              <a:rPr lang="en-JM" sz="2500" b="1" dirty="0">
                <a:solidFill>
                  <a:srgbClr val="11213E"/>
                </a:solidFill>
                <a:latin typeface="Georgia"/>
              </a:rPr>
              <a:t>s</a:t>
            </a:r>
            <a:endParaRPr sz="2500" b="1" dirty="0">
              <a:solidFill>
                <a:srgbClr val="11213E"/>
              </a:solidFill>
              <a:latin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8869680" cy="329184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00" b="1" dirty="0">
                <a:solidFill>
                  <a:srgbClr val="368A7F"/>
                </a:solidFill>
                <a:latin typeface="Aptos"/>
              </a:rPr>
              <a:t>This is a modelling problem, not just a CRUD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10928" y="566928"/>
            <a:ext cx="178308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2606040" cy="1828800"/>
          </a:xfrm>
          <a:prstGeom prst="roundRect">
            <a:avLst/>
          </a:prstGeom>
          <a:solidFill>
            <a:srgbClr val="E1EBF7"/>
          </a:solidFill>
          <a:ln>
            <a:solidFill>
              <a:srgbClr val="E1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645920"/>
            <a:ext cx="238658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75104"/>
            <a:ext cx="2459736" cy="133502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Competencies must be pulled from messy resumes and job descriptions.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The source documents are inconsistent and incomplete.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554480"/>
            <a:ext cx="2606040" cy="1828800"/>
          </a:xfrm>
          <a:prstGeom prst="roundRect">
            <a:avLst/>
          </a:prstGeom>
          <a:solidFill>
            <a:srgbClr val="E4F2EC"/>
          </a:solidFill>
          <a:ln>
            <a:solidFill>
              <a:srgbClr val="E4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645920"/>
            <a:ext cx="238658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O*NET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1975104"/>
            <a:ext cx="2459736" cy="133502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Extracted text must be mapped into a shared competency space.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That mapping has to be meaningful enough for comparison.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554480"/>
            <a:ext cx="2606040" cy="1828800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645920"/>
            <a:ext cx="238658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Defensible qualification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975104"/>
            <a:ext cx="2459736" cy="133502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Qualification must reflect skill coverage, experience, and education.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The decision cannot collapse into an arbitrary single score.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554480"/>
            <a:ext cx="2514600" cy="1828800"/>
          </a:xfrm>
          <a:prstGeom prst="roundRect">
            <a:avLst/>
          </a:prstGeom>
          <a:solidFill>
            <a:srgbClr val="F6E1DC"/>
          </a:solidFill>
          <a:ln>
            <a:solidFill>
              <a:srgbClr val="F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62288" y="1645920"/>
            <a:ext cx="229514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975104"/>
            <a:ext cx="2368296" cy="133502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Ground truth is limited, so evaluation must be careful and realistic.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Metrics include precision, recall, F1, and ranking metrics if time permits.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13632"/>
            <a:ext cx="10881360" cy="1234440"/>
          </a:xfrm>
          <a:prstGeom prst="roundRect">
            <a:avLst/>
          </a:prstGeom>
          <a:solidFill>
            <a:srgbClr val="11213E"/>
          </a:solidFill>
          <a:ln>
            <a:solidFill>
              <a:srgbClr val="11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4133087"/>
            <a:ext cx="4572000" cy="22860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200" b="1">
                <a:solidFill>
                  <a:srgbClr val="F7EBC7"/>
                </a:solidFill>
                <a:latin typeface="Aptos"/>
              </a:rPr>
              <a:t>Why this is capstone-level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89120"/>
            <a:ext cx="1033272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It combines web development, data representation, AI-style matching, evaluation design, and scalability concerns.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869680" cy="487313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2500" b="1" dirty="0">
                <a:solidFill>
                  <a:srgbClr val="11213E"/>
                </a:solidFill>
                <a:latin typeface="Georgia"/>
              </a:rPr>
              <a:t>Progress on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8869680" cy="329184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Progress so far has focused on planning, modelling, and implementation preparation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10928" y="566928"/>
            <a:ext cx="178308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3611880" cy="4480560"/>
          </a:xfrm>
          <a:prstGeom prst="roundRect">
            <a:avLst/>
          </a:prstGeom>
          <a:solidFill>
            <a:srgbClr val="E1EBF7"/>
          </a:solidFill>
          <a:ln>
            <a:solidFill>
              <a:srgbClr val="E1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1645920"/>
            <a:ext cx="339242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What has been done so 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3465576" cy="398678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Problem definition and scope have been clarified.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The O*NET-based methodology has been outlined.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Functional requirements have been drafted.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Use case and sitemap artefacts have been prepared.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Initial presentation structure has been organised around the rubric.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611880" cy="4480560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07408" y="1645920"/>
            <a:ext cx="339242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What remains to be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1975104"/>
            <a:ext cx="3465576" cy="398678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Implement the system as a web application.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Complete frontend and backend integration.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Finish database design and setup.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Prepare datasets and carry out evaluation.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Use Visual Paradigm and StarUML for modelling and documentation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554480"/>
            <a:ext cx="3611880" cy="4480560"/>
          </a:xfrm>
          <a:prstGeom prst="roundRect">
            <a:avLst/>
          </a:prstGeom>
          <a:solidFill>
            <a:srgbClr val="E4F2EC"/>
          </a:solidFill>
          <a:ln>
            <a:solidFill>
              <a:srgbClr val="E4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59" y="1645920"/>
            <a:ext cx="339242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Work division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1975104"/>
            <a:ext cx="3465576" cy="398678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Alwyn Sterling - backend development and database implementation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Dominic Scott - backend development and database implementation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Ron-Hugh Walters - documentation, modelling, data cleaning, and parsing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Leah-Jay Holness - user interface design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Tianna Bassaragh - user interface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869680" cy="658368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2500" b="1">
                <a:solidFill>
                  <a:srgbClr val="11213E"/>
                </a:solidFill>
                <a:latin typeface="Georgia"/>
              </a:rPr>
              <a:t>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8869680" cy="329184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Progress artefact for the planned user interactions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10928" y="566928"/>
            <a:ext cx="178308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7909560" cy="4800600"/>
          </a:xfrm>
          <a:prstGeom prst="roundRect">
            <a:avLst/>
          </a:prstGeom>
          <a:solidFill>
            <a:srgbClr val="EAEEF3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85980"/>
            <a:ext cx="7498079" cy="382670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32520" y="1627632"/>
            <a:ext cx="2697480" cy="2971800"/>
          </a:xfrm>
          <a:prstGeom prst="roundRect">
            <a:avLst/>
          </a:prstGeom>
          <a:solidFill>
            <a:srgbClr val="E1EBF7"/>
          </a:solidFill>
          <a:ln>
            <a:solidFill>
              <a:srgbClr val="E1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42248" y="1719072"/>
            <a:ext cx="247802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5672" y="2048256"/>
            <a:ext cx="2551176" cy="247802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This artefact clarifies the main interactions between Candidates, Employers, and the system.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It helps refine what each actor can submit, view, and inspect.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998464"/>
            <a:ext cx="7452360" cy="22860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50" b="0">
                <a:solidFill>
                  <a:srgbClr val="2D3E54"/>
                </a:solidFill>
                <a:latin typeface="Aptos"/>
              </a:rPr>
              <a:t>Caption: This artefact clarifies the main interactions between Candidates, Employers, and the 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869680" cy="658368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2500" b="1">
                <a:solidFill>
                  <a:srgbClr val="11213E"/>
                </a:solidFill>
                <a:latin typeface="Georgia"/>
              </a:rPr>
              <a:t>Sitemap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8869680" cy="329184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Progress artefact for the planned web application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10928" y="566928"/>
            <a:ext cx="178308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7909560" cy="4800600"/>
          </a:xfrm>
          <a:prstGeom prst="roundRect">
            <a:avLst/>
          </a:prstGeom>
          <a:solidFill>
            <a:srgbClr val="EAEEF3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247" y="1627632"/>
            <a:ext cx="6920064" cy="4343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32520" y="1627632"/>
            <a:ext cx="2697480" cy="2971800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42248" y="1719072"/>
            <a:ext cx="247802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5672" y="2048256"/>
            <a:ext cx="2551176" cy="247802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This artefact plans the front end structure of the web application for candidate and employer workflows.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It separates public pages from candidate and employer dashboard paths.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998464"/>
            <a:ext cx="7452360" cy="22860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50" b="0">
                <a:solidFill>
                  <a:srgbClr val="2D3E54"/>
                </a:solidFill>
                <a:latin typeface="Aptos"/>
              </a:rPr>
              <a:t>Caption: This artefact plans the front end structure of the web application for candidate and employer workflows.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869680" cy="658368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2500" b="1">
                <a:solidFill>
                  <a:srgbClr val="11213E"/>
                </a:solidFill>
                <a:latin typeface="Georgia"/>
              </a:rPr>
              <a:t>Database Design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8869680" cy="329184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Progress artefact for the proposed persistence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10928" y="566928"/>
            <a:ext cx="178308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7909560" cy="4800600"/>
          </a:xfrm>
          <a:prstGeom prst="roundRect">
            <a:avLst/>
          </a:prstGeom>
          <a:solidFill>
            <a:srgbClr val="EAEEF3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RD for 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26" y="1627632"/>
            <a:ext cx="7235306" cy="4343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32520" y="1572768"/>
            <a:ext cx="2697480" cy="3246120"/>
          </a:xfrm>
          <a:prstGeom prst="roundRect">
            <a:avLst/>
          </a:prstGeom>
          <a:solidFill>
            <a:srgbClr val="E4F2EC"/>
          </a:solidFill>
          <a:ln>
            <a:solidFill>
              <a:srgbClr val="E4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42248" y="1664208"/>
            <a:ext cx="247802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Schema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5672" y="1993392"/>
            <a:ext cx="2551176" cy="275234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Supports candidate and employer data in the web application.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Stores job posts, resumes, and competencies as core entities.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Uses linking tables for many-to-many competency relationships.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Stores match outcomes, qualification status, and match scores.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998464"/>
            <a:ext cx="7452360" cy="22860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50" b="0">
                <a:solidFill>
                  <a:srgbClr val="2D3E54"/>
                </a:solidFill>
                <a:latin typeface="Aptos"/>
              </a:rPr>
              <a:t>Caption: This artefact defines the proposed database structure needed to support resumes, job postings, competencies, and match results.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869680" cy="658368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2500" b="1">
                <a:solidFill>
                  <a:srgbClr val="11213E"/>
                </a:solidFill>
                <a:latin typeface="Georgia"/>
              </a:rPr>
              <a:t>Knowledge From the Curriculum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8869680" cy="329184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How the project draws on coursework and where it goes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10928" y="566928"/>
            <a:ext cx="178308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Close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5532120" cy="4480560"/>
          </a:xfrm>
          <a:prstGeom prst="roundRect">
            <a:avLst/>
          </a:prstGeom>
          <a:solidFill>
            <a:srgbClr val="E1EBF7"/>
          </a:solidFill>
          <a:ln>
            <a:solidFill>
              <a:srgbClr val="E1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600200"/>
            <a:ext cx="531266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Curriculum knowledge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9384"/>
            <a:ext cx="5385816" cy="398678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COMP2171 and COMP2140 - documentation and system modelling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COMP3161 - database design and storage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COMP3162 - data cleaning and possible modelling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INFO2180 - web development and frontend design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COMP3220 - intelligent matching concepts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COMP1127 - Python implementation knowledge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COMP2211 - optimization ideas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08760"/>
            <a:ext cx="4709160" cy="1874519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28816" y="1600200"/>
            <a:ext cx="448970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Immediate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9384"/>
            <a:ext cx="4562856" cy="1380743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Implement the frontend and backend workflow.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Build the O*NET-based matching pipeline.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Prepare datasets for testing and evaluation.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3675887"/>
            <a:ext cx="4709160" cy="1691640"/>
          </a:xfrm>
          <a:prstGeom prst="roundRect">
            <a:avLst/>
          </a:prstGeom>
          <a:solidFill>
            <a:srgbClr val="F6E1DC"/>
          </a:solidFill>
          <a:ln>
            <a:solidFill>
              <a:srgbClr val="F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8816" y="3767327"/>
            <a:ext cx="4489704" cy="310896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Midsemester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096511"/>
            <a:ext cx="4562856" cy="1197864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The project is clearly scoped, technically non-trivial, and organized around a realistic implementation plan.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1165</Words>
  <Application>Microsoft Office PowerPoint</Application>
  <PresentationFormat>Widescreen</PresentationFormat>
  <Paragraphs>192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Ron-Hugh Walters</cp:lastModifiedBy>
  <cp:revision>3</cp:revision>
  <dcterms:created xsi:type="dcterms:W3CDTF">2013-01-27T09:14:16Z</dcterms:created>
  <dcterms:modified xsi:type="dcterms:W3CDTF">2026-03-11T19:05:52Z</dcterms:modified>
  <cp:category/>
</cp:coreProperties>
</file>