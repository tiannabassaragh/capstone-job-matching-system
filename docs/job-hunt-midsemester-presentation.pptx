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64224"/>
            <a:ext cx="12191695" cy="493776"/>
          </a:xfrm>
          <a:prstGeom prst="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18120" y="1097280"/>
            <a:ext cx="3493008" cy="406908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502920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F7EBC7"/>
                </a:solidFill>
                <a:latin typeface="Aptos"/>
              </a:rPr>
              <a:t>COMP3901 Midsemester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029200" cy="82296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Job Hunt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5715000" cy="9144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A job matching and qualification system for computing-related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8288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F7EBC7"/>
                </a:solidFill>
                <a:latin typeface="Aptos"/>
              </a:rPr>
              <a:t>Team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9584"/>
            <a:ext cx="2743200" cy="4572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</a:rPr>
              <a:t>Free Labour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1389888"/>
            <a:ext cx="25603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11213E"/>
                </a:solidFill>
                <a:latin typeface="Aptos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1737360"/>
            <a:ext cx="2743200" cy="251460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Alwyn Sterling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Dominic Scott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Leah-Jay Holness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Ron-Hugh Walters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2A37"/>
                </a:solidFill>
                <a:latin typeface="Aptos"/>
              </a:rPr>
              <a:t>Tianna Bassaragh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4709160"/>
            <a:ext cx="256032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Midsemester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956048"/>
            <a:ext cx="2651760" cy="7315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1213E"/>
                </a:solidFill>
                <a:latin typeface="Aptos"/>
              </a:rPr>
              <a:t>Problem definition, solution approach, scope, and progress to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F7EBC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Objectives Clearly 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869680" cy="34747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Background and context for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566928"/>
            <a:ext cx="164592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5897880" cy="448056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Modern recruitment is often inefficient and opaque for both employers and applicants.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Employers sift through many applications of varying relevance, while applicants often receive little feedback.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This causes wasted effort, missed qualified candidates, and weak transparency in the matching process.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The project formalizes comparison between job requirements and candidate competencies into a structured computational process.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Scope is limited to computing-related roles so the problem stays manageable and evaluation stays realistic.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The system is an initial matching stage, not a full hiring workflow and not a replacement for recruiters.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554480"/>
            <a:ext cx="4617720" cy="1024128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3448" y="1645920"/>
            <a:ext cx="439826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1975104"/>
            <a:ext cx="4471416" cy="530352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Qualified candidates can be missed.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Employers spend time filtering weak matches.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Applicants get little explanation.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761488"/>
            <a:ext cx="4617720" cy="1024128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3448" y="2852928"/>
            <a:ext cx="439826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Project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3182112"/>
            <a:ext cx="4471416" cy="530352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We focus on resumes, job descriptions, and competency-based qualification.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We do not model final hiring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968496"/>
            <a:ext cx="4617720" cy="1115568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4059936"/>
            <a:ext cx="439826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Core 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4389120"/>
            <a:ext cx="4471416" cy="621792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This is a structured decision-support problem.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The goal is a clearer first-pass judgement of suitability.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869680" cy="34747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How Job Hunt is meant to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566928"/>
            <a:ext cx="164592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5074920" cy="457200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Accept resumes from candidates and job descriptions from employers.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Extract relevant competencies from both forms of unstructured text.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Map extracted competencies into a shared O*NET-based competency space.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Determine whether a candidate is qualified for a role, then rank by suitability.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Reduce false recommendations and missed valid matches.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2A37"/>
                </a:solidFill>
                <a:latin typeface="Aptos"/>
              </a:rPr>
              <a:t>Approximate the first-pass judgement of a skilled recruiter in a more structured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783080"/>
            <a:ext cx="1325880" cy="100584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856232"/>
            <a:ext cx="1143000" cy="25603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1">
                <a:solidFill>
                  <a:srgbClr val="11213E"/>
                </a:solidFill>
                <a:latin typeface="Georgia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2130552"/>
            <a:ext cx="117043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Resumes and job descriptions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7342631" y="2029968"/>
            <a:ext cx="384048" cy="493776"/>
          </a:xfrm>
          <a:prstGeom prst="chevron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90688" y="1783080"/>
            <a:ext cx="1325880" cy="100584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1856232"/>
            <a:ext cx="1143000" cy="25603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1">
                <a:solidFill>
                  <a:srgbClr val="11213E"/>
                </a:solidFill>
                <a:latin typeface="Georgia"/>
              </a:rP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130552"/>
            <a:ext cx="117043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Pull out competencies from text</a:t>
            </a:r>
          </a:p>
        </p:txBody>
      </p:sp>
      <p:sp>
        <p:nvSpPr>
          <p:cNvPr id="14" name="Chevron 13"/>
          <p:cNvSpPr/>
          <p:nvPr/>
        </p:nvSpPr>
        <p:spPr>
          <a:xfrm>
            <a:off x="9144000" y="2029968"/>
            <a:ext cx="384048" cy="493776"/>
          </a:xfrm>
          <a:prstGeom prst="chevron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82912" y="1783080"/>
            <a:ext cx="1325880" cy="100584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1856232"/>
            <a:ext cx="1143000" cy="25603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1">
                <a:solidFill>
                  <a:srgbClr val="11213E"/>
                </a:solidFill>
                <a:latin typeface="Georgia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6064" y="2130552"/>
            <a:ext cx="117043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Align to shared O*NET descriptors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3154680"/>
            <a:ext cx="20574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1">
                <a:solidFill>
                  <a:srgbClr val="368A7F"/>
                </a:solidFill>
                <a:latin typeface="Aptos"/>
              </a:rPr>
              <a:t>Then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3456432"/>
            <a:ext cx="1325880" cy="100584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529584"/>
            <a:ext cx="1143000" cy="25603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1">
                <a:solidFill>
                  <a:srgbClr val="11213E"/>
                </a:solidFill>
                <a:latin typeface="Georgia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3803904"/>
            <a:ext cx="117043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050" b="0">
                <a:solidFill>
                  <a:srgbClr val="1F2A37"/>
                </a:solidFill>
                <a:latin typeface="Aptos"/>
              </a:rPr>
              <a:t>Qualify and rank matches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4617720"/>
            <a:ext cx="5257800" cy="914400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4709160"/>
            <a:ext cx="50383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Central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5038344"/>
            <a:ext cx="5111496" cy="42062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Find candidates who genuinely satisfy requirements.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Avoid surfacing candidates who do not meet required competencies.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869680" cy="34747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What we will do, what we will not do, and what may be added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566928"/>
            <a:ext cx="164592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3703320" cy="452628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508760"/>
            <a:ext cx="348386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We will definitely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37944"/>
            <a:ext cx="3557016" cy="403250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Accept resumes and job descriptions as input.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Extract competencies from unstructured text.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Map extracted competencies to O*NET descriptors.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Generate structured competency profiles for jobs and candidates.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Determine whether required competencies are satisfied.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Rank qualified candidates and relevant jobs.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417320"/>
            <a:ext cx="3657600" cy="452628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508760"/>
            <a:ext cx="34381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We will definitely not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37944"/>
            <a:ext cx="3511296" cy="403250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Build a complete hiring platform.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Handle interviews, onboarding, or final hiring decisions.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Predict actual job performance.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Guarantee real-world hiring accuracy from resume text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417320"/>
            <a:ext cx="3337560" cy="452628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311810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We might do if time permits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1837944"/>
            <a:ext cx="3191256" cy="403250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Mark competencies as required or preferred.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Adjust ranking weights within limits.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Generate qualification explanations.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Produce competency gap reports.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Add user result filters.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Technical Issues and Why the Project Is Non-Trivial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869680" cy="34747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The hard parts are modelling and evaluation, not just the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566928"/>
            <a:ext cx="164592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2606040" cy="182880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45920"/>
            <a:ext cx="238658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Messy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75104"/>
            <a:ext cx="2459736" cy="133502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Resumes and job descriptions are vague, inconsistent, and full of implied skills.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Competency extraction must work on noisy language, not clean 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554480"/>
            <a:ext cx="2606040" cy="182880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38658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Defining qualified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1975104"/>
            <a:ext cx="2459736" cy="133502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Qualification is multi-dimensional, not a single score.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Multiple signals must be combined without becoming arbitrary.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54480"/>
            <a:ext cx="2606040" cy="182880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645920"/>
            <a:ext cx="238658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High-dimensional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975104"/>
            <a:ext cx="2459736" cy="133502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The system assumes useful structure in a competency space.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Linearity may not always hold, and scale still matters.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554480"/>
            <a:ext cx="2514600" cy="182880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645920"/>
            <a:ext cx="22951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975104"/>
            <a:ext cx="2368296" cy="133502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Ground truth for who is truly qualified is hard to obtain.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Testing must be credible, staged, and metric-driven.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13632"/>
            <a:ext cx="10881360" cy="1371600"/>
          </a:xfrm>
          <a:prstGeom prst="roundRect">
            <a:avLst/>
          </a:prstGeom>
          <a:solidFill>
            <a:srgbClr val="11213E"/>
          </a:solidFill>
          <a:ln>
            <a:solidFill>
              <a:srgbClr val="11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114800"/>
            <a:ext cx="274320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F7EBC7"/>
                </a:solidFill>
                <a:latin typeface="Aptos"/>
              </a:rPr>
              <a:t>Evaluation plan from the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07408"/>
            <a:ext cx="10332720" cy="7315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Stage 1: qualification decision using precision, recall, and F1.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Stage 2: ranking quality using Precision@K, nDCG@K, and MRR if time permits.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Knowledge From the Curriculum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869680" cy="34747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Why this is a capstone-level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566928"/>
            <a:ext cx="164592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Curriculum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2240280" cy="1627632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00200"/>
            <a:ext cx="202082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COMP2171 + COMP2140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9384"/>
            <a:ext cx="2093976" cy="113385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Documentation, requirements analysis, system modelling, and design artifacts.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08760"/>
            <a:ext cx="2240280" cy="1627632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600200"/>
            <a:ext cx="202082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COMP3161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1929384"/>
            <a:ext cx="2093976" cy="113385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Database design for resumes, job posts, competency profiles, and match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508760"/>
            <a:ext cx="2240280" cy="1627632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202082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COMP3162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1929384"/>
            <a:ext cx="2093976" cy="113385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Data cleaning, preprocessing, modelling support, and evaluation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18904" y="1508760"/>
            <a:ext cx="2240280" cy="1627632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8632" y="1600200"/>
            <a:ext cx="202082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COMP1127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2056" y="1929384"/>
            <a:ext cx="2093976" cy="113385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Python foundations for backend logic, parsing, and experimentation.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3749039"/>
            <a:ext cx="2240280" cy="1627632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84247" y="3840479"/>
            <a:ext cx="202082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INFO2180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7671" y="4169663"/>
            <a:ext cx="2093976" cy="113385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Frontend design and implementation for employer and candidate interaction.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28032" y="3749039"/>
            <a:ext cx="2240280" cy="1627632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840479"/>
            <a:ext cx="202082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COMP3220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4" y="4169663"/>
            <a:ext cx="2093976" cy="113385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Intelligent decision-making for extraction, matching, and qualification.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81544" y="3749039"/>
            <a:ext cx="2240280" cy="1627632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2" y="3840479"/>
            <a:ext cx="202082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COMP2211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4696" y="4169663"/>
            <a:ext cx="2093976" cy="1133856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Optimization thinking for ranking and balancing multiple decision factors.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97880"/>
            <a:ext cx="1078992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11213E"/>
                </a:solidFill>
                <a:latin typeface="Aptos"/>
              </a:rPr>
              <a:t>Taken together, the project draws on software engineering, databases, web development, AI, data science, programming, and optimization.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Progress on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869680" cy="34747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Who is doing what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566928"/>
            <a:ext cx="164592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2743200" cy="1097280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45920"/>
            <a:ext cx="25237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Alwyn Sterling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75104"/>
            <a:ext cx="2596896" cy="60350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Backend development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Database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88920"/>
            <a:ext cx="2743200" cy="1097280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880360"/>
            <a:ext cx="25237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Dominic Scott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9544"/>
            <a:ext cx="2596896" cy="60350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Backend development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Database 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23360"/>
            <a:ext cx="2743200" cy="132588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114800"/>
            <a:ext cx="25237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Ron-Hugh Walters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43984"/>
            <a:ext cx="2596896" cy="83210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Documentation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System modelling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Data cleaning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Data parsing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1554480"/>
            <a:ext cx="2743200" cy="1097280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1645920"/>
            <a:ext cx="25237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Leah-Jay Holness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1975104"/>
            <a:ext cx="2596896" cy="60350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User interface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788920"/>
            <a:ext cx="2743200" cy="1097280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2880360"/>
            <a:ext cx="25237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Tianna Bassaragh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3209544"/>
            <a:ext cx="2596896" cy="60350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User interface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4848" y="1600200"/>
            <a:ext cx="4572000" cy="3703320"/>
          </a:xfrm>
          <a:prstGeom prst="roundRect">
            <a:avLst/>
          </a:prstGeom>
          <a:solidFill>
            <a:srgbClr val="11213E"/>
          </a:solidFill>
          <a:ln>
            <a:solidFill>
              <a:srgbClr val="11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1828800"/>
            <a:ext cx="38404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F7EBC7"/>
                </a:solidFill>
                <a:latin typeface="Aptos"/>
              </a:rPr>
              <a:t>What this shows for midsemester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139696"/>
            <a:ext cx="3931920" cy="2788920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The work is split across backend, database, UI, documentation, modelling, and data preparation.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The team already has a defined structure rather than an undefined group effort.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That makes the remaining implementation plan easier to organize and defend.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What Remains to Be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869680" cy="34747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Main implementation and evaluation work still ahead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566928"/>
            <a:ext cx="164592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400800" cy="932688"/>
          </a:xfrm>
          <a:prstGeom prst="roundRect">
            <a:avLst/>
          </a:prstGeom>
          <a:solidFill>
            <a:srgbClr val="E1EBF7"/>
          </a:solidFill>
          <a:ln>
            <a:solidFill>
              <a:srgbClr val="E1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54480"/>
            <a:ext cx="61813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1.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83664"/>
            <a:ext cx="6254496" cy="438912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Candidate and employer interfaces, page flow, and user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6400800" cy="932688"/>
          </a:xfrm>
          <a:prstGeom prst="roundRect">
            <a:avLst/>
          </a:prstGeom>
          <a:solidFill>
            <a:srgbClr val="E4F2EC"/>
          </a:solidFill>
          <a:ln>
            <a:solidFill>
              <a:srgbClr val="E4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43200"/>
            <a:ext cx="61813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2. Backend +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72384"/>
            <a:ext cx="6254496" cy="438912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API endpoints, document processing flow, and storage for jobs, resumes, profiles, and matches.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6400800" cy="932688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31920"/>
            <a:ext cx="61813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3. Implement the matching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261104"/>
            <a:ext cx="6254496" cy="438912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Resume parsing, job parsing, mapping, qualification, and ranking logic.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6400800" cy="932688"/>
          </a:xfrm>
          <a:prstGeom prst="roundRect">
            <a:avLst/>
          </a:prstGeom>
          <a:solidFill>
            <a:srgbClr val="F6E1DC"/>
          </a:solidFill>
          <a:ln>
            <a:solidFill>
              <a:srgbClr val="F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120640"/>
            <a:ext cx="618134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4. Validate the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449824"/>
            <a:ext cx="6254496" cy="438912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Prepare datasets, clean data, integrate evaluation, and test the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64208"/>
            <a:ext cx="3794760" cy="3566160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1755648"/>
            <a:ext cx="357530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Supporting work from the draft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2084832"/>
            <a:ext cx="3648456" cy="307238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Complete system models and diagrams that guide implementation.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Use Visual Paradigm and StarUML for structure, behavior, and interaction models.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Prepare and clean selected datasets.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Establish the evaluation setup for measuring performance.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Sitemap Showing User Interface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869680" cy="34747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Existing visual artifact from the project folder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566928"/>
            <a:ext cx="164592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1018520" cy="4983480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al Site 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317" y="1572768"/>
            <a:ext cx="7065749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062472"/>
            <a:ext cx="1005840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2D3E54"/>
                </a:solidFill>
                <a:latin typeface="Aptos"/>
              </a:rPr>
              <a:t>This flow captures the shared landing experience plus separate applicant and employer dashboards.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E0B44A"/>
          </a:solidFill>
          <a:ln>
            <a:solidFill>
              <a:srgbClr val="E0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686800" cy="6858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500" b="1">
                <a:solidFill>
                  <a:srgbClr val="11213E"/>
                </a:solidFill>
                <a:latin typeface="Georgia"/>
              </a:rP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869680" cy="347472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368A7F"/>
                </a:solidFill>
                <a:latin typeface="Aptos"/>
              </a:rPr>
              <a:t>User-facing actions already identified by 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566928"/>
            <a:ext cx="1645920" cy="329184"/>
          </a:xfrm>
          <a:prstGeom prst="roundRect">
            <a:avLst/>
          </a:prstGeom>
          <a:solidFill>
            <a:srgbClr val="368A7F"/>
          </a:solidFill>
          <a:ln>
            <a:solidFill>
              <a:srgbClr val="368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7406640" cy="4983480"/>
          </a:xfrm>
          <a:prstGeom prst="roundRect">
            <a:avLst/>
          </a:prstGeom>
          <a:solidFill>
            <a:srgbClr val="EAEEF3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eCaseDiagram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09269"/>
            <a:ext cx="7086600" cy="36167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691640"/>
            <a:ext cx="3154680" cy="3566160"/>
          </a:xfrm>
          <a:prstGeom prst="roundRect">
            <a:avLst/>
          </a:prstGeom>
          <a:solidFill>
            <a:srgbClr val="F7EBC7"/>
          </a:solidFill>
          <a:ln>
            <a:solidFill>
              <a:srgbClr val="F7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1783080"/>
            <a:ext cx="2935224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1213E"/>
                </a:solidFill>
                <a:latin typeface="Georgia"/>
              </a:rPr>
              <a:t>Key interactions shown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2112264"/>
            <a:ext cx="3008376" cy="3072384"/>
          </a:xfrm>
          <a:prstGeom prst="rect">
            <a:avLst/>
          </a:prstGeom>
          <a:noFill/>
        </p:spPr>
        <p:txBody>
          <a:bodyPr wrap="square" lIns="101600" rIns="101600" tIns="50800" bIns="50800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Upload a resume or CV.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Upload a job description.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View job lists and candidate lists.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Check process status.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View explanations and missing competencies.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1F2A37"/>
                </a:solidFill>
                <a:latin typeface="Aptos"/>
              </a:rPr>
              <a:t>Inspect competency profiles as part of transparency.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5504688"/>
            <a:ext cx="3154680" cy="4572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50" b="0">
                <a:solidFill>
                  <a:srgbClr val="11213E"/>
                </a:solidFill>
                <a:latin typeface="Aptos"/>
              </a:rPr>
              <a:t>These use cases support the functional requirements already drafted in the midsemester document.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48288" y="6400800"/>
            <a:ext cx="365760" cy="182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r"/>
            <a:r>
              <a:rPr sz="1000" b="0">
                <a:solidFill>
                  <a:srgbClr val="2D3E5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