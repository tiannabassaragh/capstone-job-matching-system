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9" r:id="rId10"/>
    <p:sldId id="260" r:id="rId11"/>
    <p:sldId id="261" r:id="rId12"/>
    <p:sldId id="262" r:id="rId13"/>
    <p:sldId id="265" r:id="rId16"/>
    <p:sldId id="266" r:id="rId17"/>
    <p:sldId id="264" r:id="rId15"/>
    <p:sldId id="263" r:id="rId14"/>
    <p:sldId id="268" r:id="rId8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12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27648"/>
            <a:ext cx="12191695" cy="530352"/>
          </a:xfrm>
          <a:prstGeom prst="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54112" y="1005840"/>
            <a:ext cx="3566160" cy="448056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96112"/>
            <a:ext cx="3931920" cy="2743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7EBC7"/>
                </a:solidFill>
                <a:latin typeface="Aptos"/>
              </a:rPr>
              <a:t>COMP3901 - Capstone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325880"/>
            <a:ext cx="5303520" cy="82296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Georgia"/>
              </a:rPr>
              <a:t>Job Hunt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84831"/>
            <a:ext cx="5669280" cy="82296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Midsemester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5806440" cy="9601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A web-based job matching and qualification system for computing-related roles.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1828800" cy="22860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7EBC7"/>
                </a:solidFill>
                <a:latin typeface="Aptos"/>
              </a:rPr>
              <a:t>Team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2286000" cy="4114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Free Labour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3296" y="1298448"/>
            <a:ext cx="2377440" cy="2743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1213E"/>
                </a:solidFill>
                <a:latin typeface="Aptos"/>
              </a:rPr>
              <a:t>Team Members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1645920"/>
            <a:ext cx="2743200" cy="34747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2A37"/>
                </a:solidFill>
                <a:latin typeface="Aptos"/>
              </a:rPr>
              <a:t>Alwyn Sterling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2A37"/>
                </a:solidFill>
                <a:latin typeface="Aptos"/>
              </a:rPr>
              <a:t>Dominic Scott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2A37"/>
                </a:solidFill>
                <a:latin typeface="Aptos"/>
              </a:rPr>
              <a:t>Leah-Jay Holness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2A37"/>
                </a:solidFill>
                <a:latin typeface="Aptos"/>
              </a:rPr>
              <a:t>Ron-Hugh Walters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2A37"/>
                </a:solidFill>
                <a:latin typeface="Aptos"/>
              </a:rPr>
              <a:t>Tianna Bassaragh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F7EBC7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Problem Background and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Why this problem is worth solving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5760720" cy="44805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1F2A37"/>
                </a:solidFill>
                <a:latin typeface="Aptos"/>
              </a:rPr>
              <a:t>Modern recruitment is inefficient for both employers and applicants.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F2A37"/>
                </a:solidFill>
                <a:latin typeface="Aptos"/>
              </a:rPr>
              <a:t>Job descriptions and resumes are messy, unstructured documents.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F2A37"/>
                </a:solidFill>
                <a:latin typeface="Aptos"/>
              </a:rPr>
              <a:t>Employers need a faster first-pass filter for candidate suitability.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F2A37"/>
                </a:solidFill>
                <a:latin typeface="Aptos"/>
              </a:rPr>
              <a:t>Applicants benefit from clearer, more transparent matching outcomes.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1F2A37"/>
                </a:solidFill>
                <a:latin typeface="Aptos"/>
              </a:rPr>
              <a:t>The project focuses on computing-related roles to keep scope realistic.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1645920"/>
            <a:ext cx="4663440" cy="128016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0568" y="1737360"/>
            <a:ext cx="444398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Problem framing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93992" y="2066544"/>
            <a:ext cx="4517136" cy="78638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We are formalising comparison between job requirements and candidate competencies.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The system acts as an initial matching and recommendation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3246120"/>
            <a:ext cx="4663440" cy="1417320"/>
          </a:xfrm>
          <a:prstGeom prst="roundRect">
            <a:avLst/>
          </a:prstGeom>
          <a:solidFill>
            <a:srgbClr val="F6E1DC"/>
          </a:solidFill>
          <a:ln>
            <a:solidFill>
              <a:srgbClr val="F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30568" y="3337560"/>
            <a:ext cx="444398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Not the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3666744"/>
            <a:ext cx="4517136" cy="92354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This is not a full hiring platform.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We are not predicting final hiring outcomes or job performance.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A web-based Job Matching and Qualification System for computing-related roles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698480" cy="38404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1213E"/>
                </a:solidFill>
                <a:latin typeface="Aptos"/>
              </a:rPr>
              <a:t>The system operates as an initial matching and recommendation stage, not a full hiring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429000" cy="3154680"/>
          </a:xfrm>
          <a:prstGeom prst="roundRect">
            <a:avLst/>
          </a:prstGeom>
          <a:solidFill>
            <a:srgbClr val="E1EBF7"/>
          </a:solidFill>
          <a:ln>
            <a:solidFill>
              <a:srgbClr val="E1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011680"/>
            <a:ext cx="320954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Candidate Web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40864"/>
            <a:ext cx="3282696" cy="266090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Upload resume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View ranked job matches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View match details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429000" cy="3154680"/>
          </a:xfrm>
          <a:prstGeom prst="roundRect">
            <a:avLst/>
          </a:prstGeom>
          <a:solidFill>
            <a:srgbClr val="E4F2EC"/>
          </a:solidFill>
          <a:ln>
            <a:solidFill>
              <a:srgbClr val="E4F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2011680"/>
            <a:ext cx="320954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Core Matching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340864"/>
            <a:ext cx="3282696" cy="266090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Extract competencies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Map competencies to O*NET descriptors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Determine qualification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Rank results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920240"/>
            <a:ext cx="3429000" cy="315468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320954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Employer Web Interface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2340864"/>
            <a:ext cx="3282696" cy="266090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Create job posting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View ranked candidates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View match details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10424160" cy="256032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50" b="0">
                <a:solidFill>
                  <a:srgbClr val="2D3E54"/>
                </a:solidFill>
                <a:latin typeface="Aptos"/>
              </a:rPr>
              <a:t>Possible explanation, gap-report, weighting, and advanced filtering features remain stretch additions rather than guaranteed deliverables.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Objectives Clearly Defined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Core deliverables, boundaries, and stretch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3703320" cy="4526280"/>
          </a:xfrm>
          <a:prstGeom prst="roundRect">
            <a:avLst/>
          </a:prstGeom>
          <a:solidFill>
            <a:srgbClr val="E4F2EC"/>
          </a:solidFill>
          <a:ln>
            <a:solidFill>
              <a:srgbClr val="E4F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508760"/>
            <a:ext cx="348386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Core deliverables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37944"/>
            <a:ext cx="3557016" cy="403250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Accept resumes and job descriptions.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Extract competencies from unstructured text.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Map extracted competencies to O*NET descriptors.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Generate structured competency profiles.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Determine whether required competencies are satisfied.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Rank qualified candidates and relevant jobs.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17320"/>
            <a:ext cx="3657600" cy="4526280"/>
          </a:xfrm>
          <a:prstGeom prst="roundRect">
            <a:avLst/>
          </a:prstGeom>
          <a:solidFill>
            <a:srgbClr val="F6E1DC"/>
          </a:solidFill>
          <a:ln>
            <a:solidFill>
              <a:srgbClr val="F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08760"/>
            <a:ext cx="343814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Clearly out of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1837944"/>
            <a:ext cx="3511296" cy="403250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A full hiring platform.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Interviews, offers, onboarding, or final hiring decisions.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Predicting job performance.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Claiming guaranteed real-world hiring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417320"/>
            <a:ext cx="3310128" cy="452628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0768" y="1508760"/>
            <a:ext cx="3090672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Stretch goals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1837944"/>
            <a:ext cx="3163824" cy="403250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Mark competencies as required or preferred.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Adjust ranking weights within defined bounds.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Generate qualification explanations.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Produce competency gap reports.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Filter results by later decided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Functional Requirements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The most important behaviours of the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Requirements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2743200" cy="1645920"/>
          </a:xfrm>
          <a:prstGeom prst="roundRect">
            <a:avLst/>
          </a:prstGeom>
          <a:solidFill>
            <a:srgbClr val="E1EBF7"/>
          </a:solidFill>
          <a:ln>
            <a:solidFill>
              <a:srgbClr val="E1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00200"/>
            <a:ext cx="252374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Input and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9384"/>
            <a:ext cx="2596896" cy="115214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Upload or enter resumes and job descriptions.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Store structured profiles for later matching.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508760"/>
            <a:ext cx="2743200" cy="1645920"/>
          </a:xfrm>
          <a:prstGeom prst="roundRect">
            <a:avLst/>
          </a:prstGeom>
          <a:solidFill>
            <a:srgbClr val="E4F2EC"/>
          </a:solidFill>
          <a:ln>
            <a:solidFill>
              <a:srgbClr val="E4F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1600200"/>
            <a:ext cx="252374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Competency profiling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1929384"/>
            <a:ext cx="2596896" cy="115214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Extract competencies from unstructured text.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Map extracted signals to O*NET descriptors.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65392" y="1508760"/>
            <a:ext cx="2697480" cy="164592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600200"/>
            <a:ext cx="247802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Qualification logic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1929384"/>
            <a:ext cx="2551176" cy="115214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Determine whether required competencies are satisfied.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Separate qualified from not qualified cases.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73184" y="1508760"/>
            <a:ext cx="2011680" cy="1645920"/>
          </a:xfrm>
          <a:prstGeom prst="roundRect">
            <a:avLst/>
          </a:prstGeom>
          <a:solidFill>
            <a:srgbClr val="F6E1DC"/>
          </a:solidFill>
          <a:ln>
            <a:solidFill>
              <a:srgbClr val="F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82912" y="1600200"/>
            <a:ext cx="179222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Ranked results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46336" y="1929384"/>
            <a:ext cx="1865376" cy="115214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Rank candidates for employers.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Rank jobs for candidates.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3730752"/>
            <a:ext cx="4617720" cy="1554480"/>
          </a:xfrm>
          <a:prstGeom prst="roundRect">
            <a:avLst/>
          </a:prstGeom>
          <a:solidFill>
            <a:srgbClr val="EAEEF3"/>
          </a:solidFill>
          <a:ln>
            <a:solidFill>
              <a:srgbClr val="EA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5608" y="3822192"/>
            <a:ext cx="439826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Important supporting behaviour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471416" cy="106070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Show the most useful results, not just raw matches.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Keep the design realistic for a web application workflow.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30752"/>
            <a:ext cx="4663440" cy="1554480"/>
          </a:xfrm>
          <a:prstGeom prst="roundRect">
            <a:avLst/>
          </a:prstGeom>
          <a:solidFill>
            <a:srgbClr val="E1EBF7"/>
          </a:solidFill>
          <a:ln>
            <a:solidFill>
              <a:srgbClr val="E1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3822192"/>
            <a:ext cx="444398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Stretch features stay separate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151376"/>
            <a:ext cx="4517136" cy="106070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Explanation, weighting controls, preferred vs required tags, and gap reports are optional additions.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They are not presented as guaranteed deliverables.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System Flow and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From document input to ranked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325880" cy="100584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1143000" cy="256032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300" b="1">
                <a:solidFill>
                  <a:srgbClr val="11213E"/>
                </a:solidFill>
                <a:latin typeface="Georgia"/>
              </a:rPr>
              <a:t>1. Collect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170432" cy="5029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050" b="0">
                <a:solidFill>
                  <a:srgbClr val="1F2A37"/>
                </a:solidFill>
                <a:latin typeface="Aptos"/>
              </a:rPr>
              <a:t>Candidate resumes and employer job descriptions</a:t>
            </a:r>
          </a:p>
        </p:txBody>
      </p:sp>
      <p:sp>
        <p:nvSpPr>
          <p:cNvPr id="9" name="Chevron 8"/>
          <p:cNvSpPr/>
          <p:nvPr/>
        </p:nvSpPr>
        <p:spPr>
          <a:xfrm>
            <a:off x="2176272" y="2084831"/>
            <a:ext cx="384048" cy="493776"/>
          </a:xfrm>
          <a:prstGeom prst="chevron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33472" y="1828800"/>
            <a:ext cx="1325880" cy="1005840"/>
          </a:xfrm>
          <a:prstGeom prst="roundRect">
            <a:avLst/>
          </a:prstGeom>
          <a:solidFill>
            <a:srgbClr val="E4F2EC"/>
          </a:solidFill>
          <a:ln>
            <a:solidFill>
              <a:srgbClr val="E4F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24912" y="1901952"/>
            <a:ext cx="1143000" cy="256032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300" b="1">
                <a:solidFill>
                  <a:srgbClr val="11213E"/>
                </a:solidFill>
                <a:latin typeface="Georgia"/>
              </a:rPr>
              <a:t>2. 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76272"/>
            <a:ext cx="1170432" cy="5029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050" b="0">
                <a:solidFill>
                  <a:srgbClr val="1F2A37"/>
                </a:solidFill>
                <a:latin typeface="Aptos"/>
              </a:rPr>
              <a:t>Find competency signals in unstructured text</a:t>
            </a:r>
          </a:p>
        </p:txBody>
      </p:sp>
      <p:sp>
        <p:nvSpPr>
          <p:cNvPr id="13" name="Chevron 12"/>
          <p:cNvSpPr/>
          <p:nvPr/>
        </p:nvSpPr>
        <p:spPr>
          <a:xfrm>
            <a:off x="3986784" y="2084831"/>
            <a:ext cx="384048" cy="493776"/>
          </a:xfrm>
          <a:prstGeom prst="chevron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1828800"/>
            <a:ext cx="1325880" cy="1005840"/>
          </a:xfrm>
          <a:prstGeom prst="roundRect">
            <a:avLst/>
          </a:prstGeom>
          <a:solidFill>
            <a:srgbClr val="E1EBF7"/>
          </a:solidFill>
          <a:ln>
            <a:solidFill>
              <a:srgbClr val="E1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901952"/>
            <a:ext cx="1143000" cy="256032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300" b="1">
                <a:solidFill>
                  <a:srgbClr val="11213E"/>
                </a:solidFill>
                <a:latin typeface="Georgia"/>
              </a:rPr>
              <a:t>3.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176272"/>
            <a:ext cx="1170432" cy="5029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050" b="0">
                <a:solidFill>
                  <a:srgbClr val="1F2A37"/>
                </a:solidFill>
                <a:latin typeface="Aptos"/>
              </a:rPr>
              <a:t>Represent extracted signals with O*NET descriptors</a:t>
            </a:r>
          </a:p>
        </p:txBody>
      </p:sp>
      <p:sp>
        <p:nvSpPr>
          <p:cNvPr id="17" name="Chevron 16"/>
          <p:cNvSpPr/>
          <p:nvPr/>
        </p:nvSpPr>
        <p:spPr>
          <a:xfrm>
            <a:off x="5797296" y="2084831"/>
            <a:ext cx="384048" cy="493776"/>
          </a:xfrm>
          <a:prstGeom prst="chevron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4496" y="1828800"/>
            <a:ext cx="1325880" cy="1005840"/>
          </a:xfrm>
          <a:prstGeom prst="roundRect">
            <a:avLst/>
          </a:prstGeom>
          <a:solidFill>
            <a:srgbClr val="F6E1DC"/>
          </a:solidFill>
          <a:ln>
            <a:solidFill>
              <a:srgbClr val="F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1901952"/>
            <a:ext cx="1143000" cy="256032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300" b="1">
                <a:solidFill>
                  <a:srgbClr val="11213E"/>
                </a:solidFill>
                <a:latin typeface="Georgia"/>
              </a:rPr>
              <a:t>4. Qualify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176272"/>
            <a:ext cx="1170432" cy="5029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050" b="0">
                <a:solidFill>
                  <a:srgbClr val="1F2A37"/>
                </a:solidFill>
                <a:latin typeface="Aptos"/>
              </a:rPr>
              <a:t>Check whether required competencies are satisfied</a:t>
            </a:r>
          </a:p>
        </p:txBody>
      </p:sp>
      <p:sp>
        <p:nvSpPr>
          <p:cNvPr id="21" name="Chevron 20"/>
          <p:cNvSpPr/>
          <p:nvPr/>
        </p:nvSpPr>
        <p:spPr>
          <a:xfrm>
            <a:off x="7607808" y="2084831"/>
            <a:ext cx="384048" cy="493776"/>
          </a:xfrm>
          <a:prstGeom prst="chevron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65008" y="1828800"/>
            <a:ext cx="1325880" cy="100584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901952"/>
            <a:ext cx="1143000" cy="256032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300" b="1">
                <a:solidFill>
                  <a:srgbClr val="11213E"/>
                </a:solidFill>
                <a:latin typeface="Georgia"/>
              </a:rPr>
              <a:t>5.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176272"/>
            <a:ext cx="1170432" cy="5029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ctr"/>
            <a:r>
              <a:rPr sz="1050" b="0">
                <a:solidFill>
                  <a:srgbClr val="1F2A37"/>
                </a:solidFill>
                <a:latin typeface="Aptos"/>
              </a:rPr>
              <a:t>Order the strongest matches for both user groups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069080"/>
            <a:ext cx="9966960" cy="1143000"/>
          </a:xfrm>
          <a:prstGeom prst="roundRect">
            <a:avLst/>
          </a:prstGeom>
          <a:solidFill>
            <a:srgbClr val="11213E"/>
          </a:solidFill>
          <a:ln>
            <a:solidFill>
              <a:srgbClr val="11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8448" y="4279392"/>
            <a:ext cx="2743200" cy="22860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7EBC7"/>
                </a:solidFill>
                <a:latin typeface="Aptos"/>
              </a:rPr>
              <a:t>Evaluation focus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526280"/>
            <a:ext cx="937260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Aptos"/>
              </a:rPr>
              <a:t>Qualification quality: precision, recall, and F1.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Aptos"/>
              </a:rPr>
              <a:t>Ranking quality if time permits: Precision@K, nDCG@K, and MRR.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Sitemap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Progress artefact for the planned web application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7909560" cy="4800600"/>
          </a:xfrm>
          <a:prstGeom prst="roundRect">
            <a:avLst/>
          </a:prstGeom>
          <a:solidFill>
            <a:srgbClr val="EAEEF3"/>
          </a:solidFill>
          <a:ln>
            <a:solidFill>
              <a:srgbClr val="EA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247" y="1627632"/>
            <a:ext cx="6920064" cy="4343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627632"/>
            <a:ext cx="2697480" cy="297180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42248" y="1719072"/>
            <a:ext cx="247802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5672" y="2048256"/>
            <a:ext cx="2551176" cy="247802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This artefact plans the front end structure of the web application for candidate and employer workflows.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It separates public pages from candidate and employer dashboard paths.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998464"/>
            <a:ext cx="7452360" cy="22860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50" b="0">
                <a:solidFill>
                  <a:srgbClr val="2D3E54"/>
                </a:solidFill>
                <a:latin typeface="Aptos"/>
              </a:rPr>
              <a:t>Caption: This artefact plans the front end structure of the web application for candidate and employer workflows.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Use Case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Progress artefact for the planned user interactions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7909560" cy="4800600"/>
          </a:xfrm>
          <a:prstGeom prst="roundRect">
            <a:avLst/>
          </a:prstGeom>
          <a:solidFill>
            <a:srgbClr val="EAEEF3"/>
          </a:solidFill>
          <a:ln>
            <a:solidFill>
              <a:srgbClr val="EA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5980"/>
            <a:ext cx="7498079" cy="382670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627632"/>
            <a:ext cx="2697480" cy="2971800"/>
          </a:xfrm>
          <a:prstGeom prst="roundRect">
            <a:avLst/>
          </a:prstGeom>
          <a:solidFill>
            <a:srgbClr val="E1EBF7"/>
          </a:solidFill>
          <a:ln>
            <a:solidFill>
              <a:srgbClr val="E1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42248" y="1719072"/>
            <a:ext cx="247802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5672" y="2048256"/>
            <a:ext cx="2551176" cy="247802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This artefact clarifies the main interactions between Candidates, Employers, and the system.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It helps refine what each actor can submit, view, and inspect.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998464"/>
            <a:ext cx="7452360" cy="22860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50" b="0">
                <a:solidFill>
                  <a:srgbClr val="2D3E54"/>
                </a:solidFill>
                <a:latin typeface="Aptos"/>
              </a:rPr>
              <a:t>Caption: This artefact clarifies the main interactions between Candidates, Employers, and the system.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Technical Challenges and Why the Project Is Non-Trivial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This is a modelling problem, not just a CRUD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2606040" cy="1828800"/>
          </a:xfrm>
          <a:prstGeom prst="roundRect">
            <a:avLst/>
          </a:prstGeom>
          <a:solidFill>
            <a:srgbClr val="E1EBF7"/>
          </a:solidFill>
          <a:ln>
            <a:solidFill>
              <a:srgbClr val="E1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45920"/>
            <a:ext cx="238658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Extraction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2459736" cy="133502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Competencies must be pulled from messy resumes and job descriptions.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The source documents are inconsistent and incomplete.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554480"/>
            <a:ext cx="2606040" cy="1828800"/>
          </a:xfrm>
          <a:prstGeom prst="roundRect">
            <a:avLst/>
          </a:prstGeom>
          <a:solidFill>
            <a:srgbClr val="E4F2EC"/>
          </a:solidFill>
          <a:ln>
            <a:solidFill>
              <a:srgbClr val="E4F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45920"/>
            <a:ext cx="238658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O*NET mapping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1975104"/>
            <a:ext cx="2459736" cy="133502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Extracted text must be mapped into a shared competency space.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That mapping has to be meaningful enough for comparison.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554480"/>
            <a:ext cx="2606040" cy="182880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645920"/>
            <a:ext cx="238658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Defensible qualification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1975104"/>
            <a:ext cx="2459736" cy="133502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Qualification must reflect skill coverage, experience, and education.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The decision cannot collapse into an arbitrary single score.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554480"/>
            <a:ext cx="2514600" cy="1828800"/>
          </a:xfrm>
          <a:prstGeom prst="roundRect">
            <a:avLst/>
          </a:prstGeom>
          <a:solidFill>
            <a:srgbClr val="F6E1DC"/>
          </a:solidFill>
          <a:ln>
            <a:solidFill>
              <a:srgbClr val="F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8" y="1645920"/>
            <a:ext cx="229514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1975104"/>
            <a:ext cx="2368296" cy="133502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Ground truth is limited, so evaluation must be careful and realistic.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Metrics include precision, recall, F1, and ranking metrics if time permits.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13632"/>
            <a:ext cx="10881360" cy="1234440"/>
          </a:xfrm>
          <a:prstGeom prst="roundRect">
            <a:avLst/>
          </a:prstGeom>
          <a:solidFill>
            <a:srgbClr val="11213E"/>
          </a:solidFill>
          <a:ln>
            <a:solidFill>
              <a:srgbClr val="11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133087"/>
            <a:ext cx="4572000" cy="22860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7EBC7"/>
                </a:solidFill>
                <a:latin typeface="Aptos"/>
              </a:rPr>
              <a:t>Why this is capstone-level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Aptos"/>
              </a:rPr>
              <a:t>It combines web development, data representation, AI-style matching, evaluation design, and scalability concerns.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Progress on Target and Well Organised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Progress so far has focused on planning, modelling, and implementation preparation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611880" cy="4480560"/>
          </a:xfrm>
          <a:prstGeom prst="roundRect">
            <a:avLst/>
          </a:prstGeom>
          <a:solidFill>
            <a:srgbClr val="E1EBF7"/>
          </a:solidFill>
          <a:ln>
            <a:solidFill>
              <a:srgbClr val="E1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645920"/>
            <a:ext cx="339242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What has been done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75104"/>
            <a:ext cx="3465576" cy="398678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Problem definition and scope have been clarified.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The O*NET-based methodology has been outlined.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Functional requirements have been drafted.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Use case and sitemap artefacts have been prepared.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Initial presentation structure has been organised around the rubric.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554480"/>
            <a:ext cx="3611880" cy="4480560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1645920"/>
            <a:ext cx="339242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What remains to be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1975104"/>
            <a:ext cx="3465576" cy="398678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Implement the system as a web application.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Complete frontend and backend integration.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Finish database design and setup.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Prepare datasets and carry out evaluation.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Use Visual Paradigm and StarUML for modelling and documentation support.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554480"/>
            <a:ext cx="3611880" cy="4480560"/>
          </a:xfrm>
          <a:prstGeom prst="roundRect">
            <a:avLst/>
          </a:prstGeom>
          <a:solidFill>
            <a:srgbClr val="E4F2EC"/>
          </a:solidFill>
          <a:ln>
            <a:solidFill>
              <a:srgbClr val="E4F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20"/>
            <a:ext cx="339242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Work division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1583" y="1975104"/>
            <a:ext cx="3465576" cy="398678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Alwyn Sterling - backend development and database implementation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Dominic Scott - backend development and database implementation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Ron-Hugh Walters - documentation, modelling, data cleaning, and parsing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Leah-Jay Holness - user interface design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Tianna Bassaragh - user interface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Knowledge From the Curriculum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How the project draws on coursework and where it goes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Close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5532120" cy="4480560"/>
          </a:xfrm>
          <a:prstGeom prst="roundRect">
            <a:avLst/>
          </a:prstGeom>
          <a:solidFill>
            <a:srgbClr val="E1EBF7"/>
          </a:solidFill>
          <a:ln>
            <a:solidFill>
              <a:srgbClr val="E1E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00200"/>
            <a:ext cx="531266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Curriculum knowledge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9384"/>
            <a:ext cx="5385816" cy="398678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COMP2171 and COMP2140 - documentation and system modelling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COMP3161 - database design and storage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COMP3162 - data cleaning and possible modelling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INFO2180 - web development and frontend design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COMP3220 - intelligent matching concepts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COMP1127 - Python implementation knowledge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COMP2211 - optimization ideas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19088" y="1508760"/>
            <a:ext cx="4709160" cy="1874519"/>
          </a:xfrm>
          <a:prstGeom prst="roundRect">
            <a:avLst/>
          </a:prstGeom>
          <a:solidFill>
            <a:srgbClr val="F7EBC7"/>
          </a:solidFill>
          <a:ln>
            <a:solidFill>
              <a:srgbClr val="F7EB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8816" y="1600200"/>
            <a:ext cx="448970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Immediate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9384"/>
            <a:ext cx="4562856" cy="1380743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Implement the frontend and backend workflow.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Build the O*NET-based matching pipeline.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Prepare datasets for testing and evaluation.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19088" y="3675887"/>
            <a:ext cx="4709160" cy="1691640"/>
          </a:xfrm>
          <a:prstGeom prst="roundRect">
            <a:avLst/>
          </a:prstGeom>
          <a:solidFill>
            <a:srgbClr val="F6E1DC"/>
          </a:solidFill>
          <a:ln>
            <a:solidFill>
              <a:srgbClr val="F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3767327"/>
            <a:ext cx="448970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Midsemester takeaway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096511"/>
            <a:ext cx="4562856" cy="119786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The project is clearly scoped, technically non-trivial, and organized around a realistic implementation plan.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E0B44A"/>
          </a:solidFill>
          <a:ln>
            <a:solidFill>
              <a:srgbClr val="E0B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869680" cy="658368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2500" b="1">
                <a:solidFill>
                  <a:srgbClr val="11213E"/>
                </a:solidFill>
                <a:latin typeface="Georgia"/>
              </a:rPr>
              <a:t>Database Design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8869680" cy="329184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368A7F"/>
                </a:solidFill>
                <a:latin typeface="Aptos"/>
              </a:rPr>
              <a:t>Progress artefact for the proposed persistence layer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566928"/>
            <a:ext cx="1783080" cy="329184"/>
          </a:xfrm>
          <a:prstGeom prst="roundRect">
            <a:avLst/>
          </a:prstGeom>
          <a:solidFill>
            <a:srgbClr val="368A7F"/>
          </a:solidFill>
          <a:ln>
            <a:solidFill>
              <a:srgbClr val="368A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7909560" cy="4800600"/>
          </a:xfrm>
          <a:prstGeom prst="roundRect">
            <a:avLst/>
          </a:prstGeom>
          <a:solidFill>
            <a:srgbClr val="EAEEF3"/>
          </a:solidFill>
          <a:ln>
            <a:solidFill>
              <a:srgbClr val="EA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RD for 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626" y="1627632"/>
            <a:ext cx="7235306" cy="4343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572768"/>
            <a:ext cx="2697480" cy="3246120"/>
          </a:xfrm>
          <a:prstGeom prst="roundRect">
            <a:avLst/>
          </a:prstGeom>
          <a:solidFill>
            <a:srgbClr val="E4F2EC"/>
          </a:solidFill>
          <a:ln>
            <a:solidFill>
              <a:srgbClr val="E4F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42248" y="1664208"/>
            <a:ext cx="2478024" cy="310896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1213E"/>
                </a:solidFill>
                <a:latin typeface="Georgia"/>
              </a:rPr>
              <a:t>Schema highlights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5672" y="1993392"/>
            <a:ext cx="2551176" cy="2752344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Supports candidate and employer data in the web application.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Stores job posts, resumes, and competencies as core entities.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Uses linking tables for many-to-many competency relationships.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Aptos"/>
              </a:rPr>
              <a:t>Stores match outcomes, qualification status, and match scores.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998464"/>
            <a:ext cx="7452360" cy="22860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l"/>
            <a:r>
              <a:rPr sz="1150" b="0">
                <a:solidFill>
                  <a:srgbClr val="2D3E54"/>
                </a:solidFill>
                <a:latin typeface="Aptos"/>
              </a:rPr>
              <a:t>Caption: This artefact defines the proposed database structure needed to support resumes, job postings, competencies, and match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48288" y="6400800"/>
            <a:ext cx="365760" cy="182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2D3E54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